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77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今天我们来汇报“视网膜光凝手术智能教学游戏系统”的最新进展。这个项目旨在通过游戏化教学，显著提升视网膜光凝手术的教学效率和质量。我们由六位成员组成，将在十四周内完成从需求分析到最终演示的全部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接下来，我们将深入探讨项目的分工和进度安排，这是确保项目顺利进行的关键。我们相信清晰的分工和合理的进度规划，是项目成功的基石。我们将详细介绍每个团队的职责，以及我们如何确保高效协作。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我们来看A组，也就是研发实现组的四位成员的具体分工。这个小组的核心目标是确保整个系统可玩、可集成、可交互，并且能够流畅运行。林鸿渝负责流程控制和主场景搭建，他将交付页面树和前端整体工程框架代码。史卓然专注于UI交互，负责设计并实现具体的UI交互功能，最终交付封装好的界面资产。陈俊希负责后端与逻辑，包括玩家存档、数据存取以及胜负条件判定，他将提供前端可调用的网络请求接口。吴嘉淇则负责仿真渲染，模拟激光光点在视网膜上的动态效果，并提供独立的激光发射渲染API及图片特效素材。这种分工确保了技术实现的专业性和高效性。接下来，我们将介绍B组，教学智能组的分工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刚才看了研发实现组，现在我们来看看教学智能组。这个小组的目标是确保题库可用、关卡数据机器可读，并且评分反馈合理。吴雨潼负责病例数据与图像生成，她会生成多种疾病的术前术后图像对，并扩充和维护核心病例数据库。她的交付物就是扩充后的病例图像数据库。冯俊铭则负责评分反馈与建议，他会设计基于操作日志的评分反馈机制，并定义评分模型的数据输出格式。他的交付物是结构化评分反馈报告。通过这样的分工，我们能确保教学内容的专业性和智能反馈的有效性。接下来，我们看看整个项目的14周时间轴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了解了具体的团队分工，现在我们把目光转向整个项目的宏观时间线。我们有14周的时间，从规划到最终交付，每个阶段都有明确的目标和交付物。前四周是规划期，我们会完成需求分析和架构定义，最终形成架构方案定稿。第五周是规范期，重点是接口协议标准化，产出接口定义手册。然后进入开发期，第六到第八周，我们会并行实现核心模块，并在第八周产出Rough Demo。第九到第十周是集成期，进行全量合并与联调测试，目标是第十周完成Alpha版本。第十一到第十二周是迭代期，我们会进行资产填充和性能调优，在第十二周交付Beta版本。最后两周是结项期，我们会汇总成果并进行最终验收，完成项目交付。这个时间轴确保了我们能按时、高质量地完成项目。现在，我们进入第二部分，详细了解个人子任务的拆分和进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的，各位，我们已经详细了解了项目的整体分工和时间规划。现在，我们将进入第二部分。这一部分，我们会深入探讨每个成员的具体子任务拆分。同时，我们也会跟踪这些任务的进展情况。这能帮助我们更清晰地看到每个人的职责。并且，它能确保我们项目的每个环节都按计划推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我们来看A组，也就是研发实现组的四位成员的具体分工。这个小组的核心目标是确保整个系统可玩、可集成、可交互，并且能够流畅运行。林鸿渝负责流程控制和主场景搭建，他将交付页面树和前端整体工程框架代码。史卓然专注于UI交互，负责设计并实现具体的UI交互功能，最终交付封装好的界面资产。陈俊希负责后端与逻辑，包括玩家存档、数据存取以及胜负条件判定，他将提供前端可调用的网络请求接口。吴嘉淇则负责仿真渲染，模拟激光光点在视网膜上的动态效果，并提供独立的激光发射渲染API及图片特效素材。这种分工确保了技术实现的专业性和高效性。接下来，我们将介绍B组，教学智能组的分工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我们来看A组，也就是研发实现组的四位成员的具体分工。这个小组的核心目标是确保整个系统可玩、可集成、可交互，并且能够流畅运行。林鸿渝负责流程控制和主场景搭建，他将交付页面树和前端整体工程框架代码。史卓然专注于UI交互，负责设计并实现具体的UI交互功能，最终交付封装好的界面资产。陈俊希负责后端与逻辑，包括玩家存档、数据存取以及胜负条件判定，他将提供前端可调用的网络请求接口。吴嘉淇则负责仿真渲染，模拟激光光点在视网膜上的动态效果，并提供独立的激光发射渲染API及图片特效素材。这种分工确保了技术实现的专业性和高效性。接下来，我们将介绍B组，教学智能组的分工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我们来看A组，也就是研发实现组的四位成员的具体分工。这个小组的核心目标是确保整个系统可玩、可集成、可交互，并且能够流畅运行。林鸿渝负责流程控制和主场景搭建，他将交付页面树和前端整体工程框架代码。史卓然专注于UI交互，负责设计并实现具体的UI交互功能，最终交付封装好的界面资产。陈俊希负责后端与逻辑，包括玩家存档、数据存取以及胜负条件判定，他将提供前端可调用的网络请求接口。吴嘉淇则负责仿真渲染，模拟激光光点在视网膜上的动态效果，并提供独立的激光发射渲染API及图片特效素材。这种分工确保了技术实现的专业性和高效性。接下来，我们将介绍B组，教学智能组的分工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4375" y="1726471"/>
            <a:ext cx="8429625" cy="11315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730" b="1" kern="0" spc="-2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视网膜光凝手术
智能教学游戏系统</a:t>
            </a:r>
            <a:endParaRPr lang="en-US" sz="3730" dirty="0"/>
          </a:p>
        </p:txBody>
      </p:sp>
      <p:sp>
        <p:nvSpPr>
          <p:cNvPr id="5" name="Text 1"/>
          <p:cNvSpPr/>
          <p:nvPr/>
        </p:nvSpPr>
        <p:spPr>
          <a:xfrm>
            <a:off x="714375" y="3029480"/>
            <a:ext cx="8429625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5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项目分工、进度安排与子任务拆解</a:t>
            </a:r>
            <a:endParaRPr lang="en-US" sz="1705" dirty="0"/>
          </a:p>
        </p:txBody>
      </p:sp>
      <p:sp>
        <p:nvSpPr>
          <p:cNvPr id="6" name="Shape 2"/>
          <p:cNvSpPr/>
          <p:nvPr/>
        </p:nvSpPr>
        <p:spPr>
          <a:xfrm>
            <a:off x="714375" y="3986213"/>
            <a:ext cx="7715250" cy="58578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>
            <a:off x="714375" y="3986213"/>
            <a:ext cx="7715250" cy="42863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714375" y="4243388"/>
            <a:ext cx="812602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TEAM</a:t>
            </a:r>
            <a:endParaRPr lang="en-US" sz="685" dirty="0"/>
          </a:p>
        </p:txBody>
      </p:sp>
      <p:sp>
        <p:nvSpPr>
          <p:cNvPr id="9" name="Text 5"/>
          <p:cNvSpPr/>
          <p:nvPr/>
        </p:nvSpPr>
        <p:spPr>
          <a:xfrm>
            <a:off x="714375" y="4364831"/>
            <a:ext cx="812602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6人协作团队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241352" y="4243388"/>
            <a:ext cx="1366242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</a:t>
            </a:r>
            <a:endParaRPr lang="en-US" sz="685" dirty="0"/>
          </a:p>
        </p:txBody>
      </p:sp>
      <p:sp>
        <p:nvSpPr>
          <p:cNvPr id="11" name="Text 7"/>
          <p:cNvSpPr/>
          <p:nvPr/>
        </p:nvSpPr>
        <p:spPr>
          <a:xfrm>
            <a:off x="2241352" y="4364831"/>
            <a:ext cx="1366242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Weeks (W1-W14)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85750" y="1550026"/>
            <a:ext cx="8572500" cy="2043447"/>
          </a:xfrm>
          <a:prstGeom prst="rect">
            <a:avLst/>
          </a:prstGeom>
          <a:solidFill>
            <a:srgbClr val="000000">
              <a:alpha val="0"/>
            </a:srgbClr>
          </a:solidFill>
          <a:ln w="8229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3879949" y="2064376"/>
            <a:ext cx="1384102" cy="294680"/>
          </a:xfrm>
          <a:prstGeom prst="rect">
            <a:avLst/>
          </a:prstGeom>
          <a:noFill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kern="0" spc="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ONE</a:t>
            </a:r>
            <a:endParaRPr lang="en-US" sz="1195" dirty="0"/>
          </a:p>
        </p:txBody>
      </p:sp>
      <p:sp>
        <p:nvSpPr>
          <p:cNvPr id="6" name="Text 2"/>
          <p:cNvSpPr/>
          <p:nvPr/>
        </p:nvSpPr>
        <p:spPr>
          <a:xfrm>
            <a:off x="2514600" y="2530506"/>
            <a:ext cx="4114800" cy="5486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项目分工与进度安排</a:t>
            </a:r>
            <a:endParaRPr lang="en-US" sz="329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1500" y="428625"/>
            <a:ext cx="8572500" cy="57507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>
            <a:off x="571500" y="428625"/>
            <a:ext cx="71438" cy="575072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742950" y="428625"/>
            <a:ext cx="840105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A组：研发实现组（4人）分工详情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42950" y="816173"/>
            <a:ext cx="8401050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保证系统可玩、可集成、可交互流转畅通</a:t>
            </a:r>
            <a:endParaRPr lang="en-US" sz="940" dirty="0"/>
          </a:p>
        </p:txBody>
      </p:sp>
      <p:sp>
        <p:nvSpPr>
          <p:cNvPr id="8" name="Text 4"/>
          <p:cNvSpPr/>
          <p:nvPr/>
        </p:nvSpPr>
        <p:spPr>
          <a:xfrm>
            <a:off x="692944" y="1296591"/>
            <a:ext cx="514350" cy="305395"/>
          </a:xfrm>
          <a:prstGeom prst="rect">
            <a:avLst/>
          </a:prstGeom>
          <a:noFill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林鸿渝</a:t>
            </a:r>
            <a:endParaRPr lang="en-US" sz="1195" dirty="0"/>
          </a:p>
        </p:txBody>
      </p:sp>
      <p:sp>
        <p:nvSpPr>
          <p:cNvPr id="9" name="Text 5"/>
          <p:cNvSpPr/>
          <p:nvPr/>
        </p:nvSpPr>
        <p:spPr>
          <a:xfrm>
            <a:off x="692944" y="1687711"/>
            <a:ext cx="3629025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流程控制与主场景</a:t>
            </a:r>
            <a:endParaRPr lang="en-US" sz="685" dirty="0"/>
          </a:p>
        </p:txBody>
      </p:sp>
      <p:sp>
        <p:nvSpPr>
          <p:cNvPr id="10" name="Text 6"/>
          <p:cNvSpPr/>
          <p:nvPr/>
        </p:nvSpPr>
        <p:spPr>
          <a:xfrm>
            <a:off x="692944" y="1918097"/>
            <a:ext cx="3629025" cy="160734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搭建游戏主场景与加载结算流程</a:t>
            </a:r>
            <a:endParaRPr lang="en-US" sz="780" dirty="0"/>
          </a:p>
        </p:txBody>
      </p:sp>
      <p:sp>
        <p:nvSpPr>
          <p:cNvPr id="11" name="Text 7"/>
          <p:cNvSpPr/>
          <p:nvPr/>
        </p:nvSpPr>
        <p:spPr>
          <a:xfrm>
            <a:off x="692944" y="2135981"/>
            <a:ext cx="3629025" cy="160734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完成可视化页面设计与跳转逻辑</a:t>
            </a:r>
            <a:endParaRPr lang="en-US" sz="780" dirty="0"/>
          </a:p>
        </p:txBody>
      </p:sp>
      <p:sp>
        <p:nvSpPr>
          <p:cNvPr id="12" name="Shape 8"/>
          <p:cNvSpPr/>
          <p:nvPr/>
        </p:nvSpPr>
        <p:spPr>
          <a:xfrm>
            <a:off x="692944" y="2382441"/>
            <a:ext cx="3629025" cy="258961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692944" y="2382441"/>
            <a:ext cx="3629025" cy="258961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页面树与工程框架</a:t>
            </a:r>
            <a:endParaRPr lang="en-US" sz="685" dirty="0"/>
          </a:p>
        </p:txBody>
      </p:sp>
      <p:sp>
        <p:nvSpPr>
          <p:cNvPr id="14" name="Text 10"/>
          <p:cNvSpPr/>
          <p:nvPr/>
        </p:nvSpPr>
        <p:spPr>
          <a:xfrm>
            <a:off x="692944" y="1946672"/>
            <a:ext cx="43169" cy="10715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5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515" dirty="0"/>
          </a:p>
        </p:txBody>
      </p:sp>
      <p:sp>
        <p:nvSpPr>
          <p:cNvPr id="15" name="Text 11"/>
          <p:cNvSpPr/>
          <p:nvPr/>
        </p:nvSpPr>
        <p:spPr>
          <a:xfrm>
            <a:off x="692944" y="2164556"/>
            <a:ext cx="43169" cy="10715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5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515" dirty="0"/>
          </a:p>
        </p:txBody>
      </p:sp>
      <p:sp>
        <p:nvSpPr>
          <p:cNvPr id="16" name="Text 12"/>
          <p:cNvSpPr/>
          <p:nvPr/>
        </p:nvSpPr>
        <p:spPr>
          <a:xfrm>
            <a:off x="4822031" y="1296591"/>
            <a:ext cx="514350" cy="305395"/>
          </a:xfrm>
          <a:prstGeom prst="rect">
            <a:avLst/>
          </a:prstGeom>
          <a:noFill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史卓然</a:t>
            </a:r>
            <a:endParaRPr lang="en-US" sz="1195" dirty="0"/>
          </a:p>
        </p:txBody>
      </p:sp>
      <p:sp>
        <p:nvSpPr>
          <p:cNvPr id="17" name="Text 13"/>
          <p:cNvSpPr/>
          <p:nvPr/>
        </p:nvSpPr>
        <p:spPr>
          <a:xfrm>
            <a:off x="4822031" y="1687711"/>
            <a:ext cx="3629025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 交互与组装</a:t>
            </a:r>
            <a:endParaRPr lang="en-US" sz="685" dirty="0"/>
          </a:p>
        </p:txBody>
      </p:sp>
      <p:sp>
        <p:nvSpPr>
          <p:cNvPr id="18" name="Text 14"/>
          <p:cNvSpPr/>
          <p:nvPr/>
        </p:nvSpPr>
        <p:spPr>
          <a:xfrm>
            <a:off x="4822031" y="1918097"/>
            <a:ext cx="3629025" cy="160734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实现页面 UI 交互动效与按键反馈</a:t>
            </a:r>
            <a:endParaRPr lang="en-US" sz="780" dirty="0"/>
          </a:p>
        </p:txBody>
      </p:sp>
      <p:sp>
        <p:nvSpPr>
          <p:cNvPr id="19" name="Text 15"/>
          <p:cNvSpPr/>
          <p:nvPr/>
        </p:nvSpPr>
        <p:spPr>
          <a:xfrm>
            <a:off x="4822031" y="2135981"/>
            <a:ext cx="3629025" cy="160734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进行视觉素材切图与 UI 拼装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4822031" y="2382441"/>
            <a:ext cx="3629025" cy="258961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7"/>
          <p:cNvSpPr/>
          <p:nvPr/>
        </p:nvSpPr>
        <p:spPr>
          <a:xfrm>
            <a:off x="4822031" y="2382441"/>
            <a:ext cx="3629025" cy="258961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封装好的界面资产</a:t>
            </a:r>
            <a:endParaRPr lang="en-US" sz="685" dirty="0"/>
          </a:p>
        </p:txBody>
      </p:sp>
      <p:sp>
        <p:nvSpPr>
          <p:cNvPr id="22" name="Text 18"/>
          <p:cNvSpPr/>
          <p:nvPr/>
        </p:nvSpPr>
        <p:spPr>
          <a:xfrm>
            <a:off x="4822031" y="1946672"/>
            <a:ext cx="43169" cy="10715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5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515" dirty="0"/>
          </a:p>
        </p:txBody>
      </p:sp>
      <p:sp>
        <p:nvSpPr>
          <p:cNvPr id="23" name="Text 19"/>
          <p:cNvSpPr/>
          <p:nvPr/>
        </p:nvSpPr>
        <p:spPr>
          <a:xfrm>
            <a:off x="4822031" y="2164556"/>
            <a:ext cx="43169" cy="10715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5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515" dirty="0"/>
          </a:p>
        </p:txBody>
      </p:sp>
      <p:sp>
        <p:nvSpPr>
          <p:cNvPr id="24" name="Text 20"/>
          <p:cNvSpPr/>
          <p:nvPr/>
        </p:nvSpPr>
        <p:spPr>
          <a:xfrm>
            <a:off x="692944" y="3141464"/>
            <a:ext cx="514350" cy="305395"/>
          </a:xfrm>
          <a:prstGeom prst="rect">
            <a:avLst/>
          </a:prstGeom>
          <a:noFill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陈俊希</a:t>
            </a:r>
            <a:endParaRPr lang="en-US" sz="1195" dirty="0"/>
          </a:p>
        </p:txBody>
      </p:sp>
      <p:sp>
        <p:nvSpPr>
          <p:cNvPr id="25" name="Text 21"/>
          <p:cNvSpPr/>
          <p:nvPr/>
        </p:nvSpPr>
        <p:spPr>
          <a:xfrm>
            <a:off x="692944" y="3532584"/>
            <a:ext cx="3629025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后端存档与逻辑</a:t>
            </a:r>
            <a:endParaRPr lang="en-US" sz="685" dirty="0"/>
          </a:p>
        </p:txBody>
      </p:sp>
      <p:sp>
        <p:nvSpPr>
          <p:cNvPr id="26" name="Text 22"/>
          <p:cNvSpPr/>
          <p:nvPr/>
        </p:nvSpPr>
        <p:spPr>
          <a:xfrm>
            <a:off x="692944" y="3762970"/>
            <a:ext cx="3629025" cy="160734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负责玩家存档与数据存取功能</a:t>
            </a:r>
            <a:endParaRPr lang="en-US" sz="780" dirty="0"/>
          </a:p>
        </p:txBody>
      </p:sp>
      <p:sp>
        <p:nvSpPr>
          <p:cNvPr id="27" name="Text 23"/>
          <p:cNvSpPr/>
          <p:nvPr/>
        </p:nvSpPr>
        <p:spPr>
          <a:xfrm>
            <a:off x="692944" y="3980855"/>
            <a:ext cx="3629025" cy="160734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依据操作数据判定胜负条件</a:t>
            </a:r>
            <a:endParaRPr lang="en-US" sz="780" dirty="0"/>
          </a:p>
        </p:txBody>
      </p:sp>
      <p:sp>
        <p:nvSpPr>
          <p:cNvPr id="28" name="Shape 24"/>
          <p:cNvSpPr/>
          <p:nvPr/>
        </p:nvSpPr>
        <p:spPr>
          <a:xfrm>
            <a:off x="692944" y="4227314"/>
            <a:ext cx="3629025" cy="258961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5"/>
          <p:cNvSpPr/>
          <p:nvPr/>
        </p:nvSpPr>
        <p:spPr>
          <a:xfrm>
            <a:off x="692944" y="4227314"/>
            <a:ext cx="3629025" cy="258961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存档与结算 API</a:t>
            </a:r>
            <a:endParaRPr lang="en-US" sz="685" dirty="0"/>
          </a:p>
        </p:txBody>
      </p:sp>
      <p:sp>
        <p:nvSpPr>
          <p:cNvPr id="30" name="Text 26"/>
          <p:cNvSpPr/>
          <p:nvPr/>
        </p:nvSpPr>
        <p:spPr>
          <a:xfrm>
            <a:off x="692944" y="3791545"/>
            <a:ext cx="43169" cy="10715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5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515" dirty="0"/>
          </a:p>
        </p:txBody>
      </p:sp>
      <p:sp>
        <p:nvSpPr>
          <p:cNvPr id="31" name="Text 27"/>
          <p:cNvSpPr/>
          <p:nvPr/>
        </p:nvSpPr>
        <p:spPr>
          <a:xfrm>
            <a:off x="692944" y="4009430"/>
            <a:ext cx="43169" cy="10715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5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515" dirty="0"/>
          </a:p>
        </p:txBody>
      </p:sp>
      <p:sp>
        <p:nvSpPr>
          <p:cNvPr id="32" name="Text 28"/>
          <p:cNvSpPr/>
          <p:nvPr/>
        </p:nvSpPr>
        <p:spPr>
          <a:xfrm>
            <a:off x="4822031" y="3141464"/>
            <a:ext cx="514350" cy="305395"/>
          </a:xfrm>
          <a:prstGeom prst="rect">
            <a:avLst/>
          </a:prstGeom>
          <a:noFill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吴嘉淇</a:t>
            </a:r>
            <a:endParaRPr lang="en-US" sz="1195" dirty="0"/>
          </a:p>
        </p:txBody>
      </p:sp>
      <p:sp>
        <p:nvSpPr>
          <p:cNvPr id="33" name="Text 29"/>
          <p:cNvSpPr/>
          <p:nvPr/>
        </p:nvSpPr>
        <p:spPr>
          <a:xfrm>
            <a:off x="4822031" y="3532584"/>
            <a:ext cx="3629025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仿真渲染与素材</a:t>
            </a:r>
            <a:endParaRPr lang="en-US" sz="685" dirty="0"/>
          </a:p>
        </p:txBody>
      </p:sp>
      <p:sp>
        <p:nvSpPr>
          <p:cNvPr id="34" name="Text 30"/>
          <p:cNvSpPr/>
          <p:nvPr/>
        </p:nvSpPr>
        <p:spPr>
          <a:xfrm>
            <a:off x="4822031" y="3762970"/>
            <a:ext cx="3629025" cy="160734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激光光点在视网膜上的动态模拟</a:t>
            </a:r>
            <a:endParaRPr lang="en-US" sz="780" dirty="0"/>
          </a:p>
        </p:txBody>
      </p:sp>
      <p:sp>
        <p:nvSpPr>
          <p:cNvPr id="35" name="Text 31"/>
          <p:cNvSpPr/>
          <p:nvPr/>
        </p:nvSpPr>
        <p:spPr>
          <a:xfrm>
            <a:off x="4822031" y="3980855"/>
            <a:ext cx="3629025" cy="160734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收集并提供前端所需视觉素材</a:t>
            </a:r>
            <a:endParaRPr lang="en-US" sz="780" dirty="0"/>
          </a:p>
        </p:txBody>
      </p:sp>
      <p:sp>
        <p:nvSpPr>
          <p:cNvPr id="36" name="Shape 32"/>
          <p:cNvSpPr/>
          <p:nvPr/>
        </p:nvSpPr>
        <p:spPr>
          <a:xfrm>
            <a:off x="4822031" y="4227314"/>
            <a:ext cx="3629025" cy="258961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3"/>
          <p:cNvSpPr/>
          <p:nvPr/>
        </p:nvSpPr>
        <p:spPr>
          <a:xfrm>
            <a:off x="4822031" y="4227314"/>
            <a:ext cx="3629025" cy="258961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激光 API 与特效素材</a:t>
            </a:r>
            <a:endParaRPr lang="en-US" sz="685" dirty="0"/>
          </a:p>
        </p:txBody>
      </p:sp>
      <p:sp>
        <p:nvSpPr>
          <p:cNvPr id="38" name="Text 34"/>
          <p:cNvSpPr/>
          <p:nvPr/>
        </p:nvSpPr>
        <p:spPr>
          <a:xfrm>
            <a:off x="4822031" y="3791545"/>
            <a:ext cx="43169" cy="10715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5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515" dirty="0"/>
          </a:p>
        </p:txBody>
      </p:sp>
      <p:sp>
        <p:nvSpPr>
          <p:cNvPr id="39" name="Text 35"/>
          <p:cNvSpPr/>
          <p:nvPr/>
        </p:nvSpPr>
        <p:spPr>
          <a:xfrm>
            <a:off x="4822031" y="4009430"/>
            <a:ext cx="43169" cy="10715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5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51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1500" y="428625"/>
            <a:ext cx="8572500" cy="57507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>
            <a:off x="571500" y="428625"/>
            <a:ext cx="71438" cy="575072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742950" y="428625"/>
            <a:ext cx="840105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B组：教学智能组（2人）分工详情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42950" y="816173"/>
            <a:ext cx="8401050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保证题库可用性、关卡数据机器可读、评分反馈合理</a:t>
            </a:r>
            <a:endParaRPr lang="en-US" sz="940" dirty="0"/>
          </a:p>
        </p:txBody>
      </p:sp>
      <p:sp>
        <p:nvSpPr>
          <p:cNvPr id="8" name="Text 4"/>
          <p:cNvSpPr/>
          <p:nvPr/>
        </p:nvSpPr>
        <p:spPr>
          <a:xfrm>
            <a:off x="864394" y="1725216"/>
            <a:ext cx="685800" cy="401836"/>
          </a:xfrm>
          <a:prstGeom prst="rect">
            <a:avLst/>
          </a:prstGeom>
          <a:noFill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吴雨潼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64394" y="2212777"/>
            <a:ext cx="32004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病例数据与图像生成</a:t>
            </a:r>
            <a:endParaRPr lang="en-US" sz="785" dirty="0"/>
          </a:p>
        </p:txBody>
      </p:sp>
      <p:sp>
        <p:nvSpPr>
          <p:cNvPr id="10" name="Text 6"/>
          <p:cNvSpPr/>
          <p:nvPr/>
        </p:nvSpPr>
        <p:spPr>
          <a:xfrm>
            <a:off x="864394" y="2548533"/>
            <a:ext cx="3200400" cy="205718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生成多种疾病的术前术后图像对</a:t>
            </a:r>
            <a:endParaRPr lang="en-US" sz="940" dirty="0"/>
          </a:p>
        </p:txBody>
      </p:sp>
      <p:sp>
        <p:nvSpPr>
          <p:cNvPr id="11" name="Text 7"/>
          <p:cNvSpPr/>
          <p:nvPr/>
        </p:nvSpPr>
        <p:spPr>
          <a:xfrm>
            <a:off x="864394" y="2839975"/>
            <a:ext cx="3200400" cy="205718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扩充并维护核心病例数据库</a:t>
            </a:r>
            <a:endParaRPr lang="en-US" sz="940" dirty="0"/>
          </a:p>
        </p:txBody>
      </p:sp>
      <p:sp>
        <p:nvSpPr>
          <p:cNvPr id="12" name="Shape 8"/>
          <p:cNvSpPr/>
          <p:nvPr/>
        </p:nvSpPr>
        <p:spPr>
          <a:xfrm>
            <a:off x="864394" y="3331443"/>
            <a:ext cx="3200400" cy="335756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864394" y="3331443"/>
            <a:ext cx="3200400" cy="335756"/>
          </a:xfrm>
          <a:prstGeom prst="rect">
            <a:avLst/>
          </a:prstGeom>
          <a:noFill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扩充后的病例图像数据库</a:t>
            </a:r>
            <a:endParaRPr lang="en-US" sz="785" dirty="0"/>
          </a:p>
        </p:txBody>
      </p:sp>
      <p:sp>
        <p:nvSpPr>
          <p:cNvPr id="14" name="Text 10"/>
          <p:cNvSpPr/>
          <p:nvPr/>
        </p:nvSpPr>
        <p:spPr>
          <a:xfrm>
            <a:off x="864394" y="2591395"/>
            <a:ext cx="51792" cy="13712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620" dirty="0"/>
          </a:p>
        </p:txBody>
      </p:sp>
      <p:sp>
        <p:nvSpPr>
          <p:cNvPr id="15" name="Text 11"/>
          <p:cNvSpPr/>
          <p:nvPr/>
        </p:nvSpPr>
        <p:spPr>
          <a:xfrm>
            <a:off x="864394" y="2882838"/>
            <a:ext cx="51792" cy="13712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620" dirty="0"/>
          </a:p>
        </p:txBody>
      </p:sp>
      <p:sp>
        <p:nvSpPr>
          <p:cNvPr id="16" name="Text 12"/>
          <p:cNvSpPr/>
          <p:nvPr/>
        </p:nvSpPr>
        <p:spPr>
          <a:xfrm>
            <a:off x="5079206" y="1725216"/>
            <a:ext cx="685800" cy="401836"/>
          </a:xfrm>
          <a:prstGeom prst="rect">
            <a:avLst/>
          </a:prstGeom>
          <a:noFill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冯俊铭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079206" y="2212777"/>
            <a:ext cx="32004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评分反馈与建议</a:t>
            </a:r>
            <a:endParaRPr lang="en-US" sz="785" dirty="0"/>
          </a:p>
        </p:txBody>
      </p:sp>
      <p:sp>
        <p:nvSpPr>
          <p:cNvPr id="18" name="Text 14"/>
          <p:cNvSpPr/>
          <p:nvPr/>
        </p:nvSpPr>
        <p:spPr>
          <a:xfrm>
            <a:off x="5079206" y="2548533"/>
            <a:ext cx="3200400" cy="205718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设计基于操作日志的评分反馈机制</a:t>
            </a:r>
            <a:endParaRPr lang="en-US" sz="940" dirty="0"/>
          </a:p>
        </p:txBody>
      </p:sp>
      <p:sp>
        <p:nvSpPr>
          <p:cNvPr id="19" name="Text 15"/>
          <p:cNvSpPr/>
          <p:nvPr/>
        </p:nvSpPr>
        <p:spPr>
          <a:xfrm>
            <a:off x="5079206" y="2839975"/>
            <a:ext cx="3200400" cy="205718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定义评分模型的数据输出格式</a:t>
            </a:r>
            <a:endParaRPr lang="en-US" sz="940" dirty="0"/>
          </a:p>
        </p:txBody>
      </p:sp>
      <p:sp>
        <p:nvSpPr>
          <p:cNvPr id="20" name="Shape 16"/>
          <p:cNvSpPr/>
          <p:nvPr/>
        </p:nvSpPr>
        <p:spPr>
          <a:xfrm>
            <a:off x="5079206" y="3331443"/>
            <a:ext cx="3200400" cy="335756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7"/>
          <p:cNvSpPr/>
          <p:nvPr/>
        </p:nvSpPr>
        <p:spPr>
          <a:xfrm>
            <a:off x="5079206" y="3331443"/>
            <a:ext cx="3200400" cy="335756"/>
          </a:xfrm>
          <a:prstGeom prst="rect">
            <a:avLst/>
          </a:prstGeom>
          <a:noFill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结构化评分反馈报告</a:t>
            </a:r>
            <a:endParaRPr lang="en-US" sz="785" dirty="0"/>
          </a:p>
        </p:txBody>
      </p:sp>
      <p:sp>
        <p:nvSpPr>
          <p:cNvPr id="22" name="Text 18"/>
          <p:cNvSpPr/>
          <p:nvPr/>
        </p:nvSpPr>
        <p:spPr>
          <a:xfrm>
            <a:off x="5079206" y="2591395"/>
            <a:ext cx="51792" cy="13712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620" dirty="0"/>
          </a:p>
        </p:txBody>
      </p:sp>
      <p:sp>
        <p:nvSpPr>
          <p:cNvPr id="23" name="Text 19"/>
          <p:cNvSpPr/>
          <p:nvPr/>
        </p:nvSpPr>
        <p:spPr>
          <a:xfrm>
            <a:off x="5079206" y="2882838"/>
            <a:ext cx="51792" cy="13712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>
            <a:off x="571500" y="428625"/>
            <a:ext cx="71438" cy="330398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742950" y="428625"/>
            <a:ext cx="840105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14周全流程时间轴安排 (W1 - W14)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868859" y="2147422"/>
            <a:ext cx="548283" cy="150019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868859" y="2147422"/>
            <a:ext cx="548283" cy="150019"/>
          </a:xfrm>
          <a:prstGeom prst="rect">
            <a:avLst/>
          </a:prstGeom>
          <a:noFill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W1 - W4</a:t>
            </a:r>
            <a:endParaRPr lang="en-US" sz="685" dirty="0"/>
          </a:p>
        </p:txBody>
      </p:sp>
      <p:sp>
        <p:nvSpPr>
          <p:cNvPr id="9" name="Text 5"/>
          <p:cNvSpPr/>
          <p:nvPr/>
        </p:nvSpPr>
        <p:spPr>
          <a:xfrm>
            <a:off x="500063" y="2354591"/>
            <a:ext cx="1285875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P1: 规划期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500063" y="2570690"/>
            <a:ext cx="1285875" cy="120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需求分析与架构定义</a:t>
            </a:r>
            <a:endParaRPr lang="en-US" sz="675" dirty="0"/>
          </a:p>
        </p:txBody>
      </p:sp>
      <p:sp>
        <p:nvSpPr>
          <p:cNvPr id="11" name="Text 7"/>
          <p:cNvSpPr/>
          <p:nvPr/>
        </p:nvSpPr>
        <p:spPr>
          <a:xfrm>
            <a:off x="850106" y="2734270"/>
            <a:ext cx="585788" cy="167878"/>
          </a:xfrm>
          <a:prstGeom prst="rect">
            <a:avLst/>
          </a:prstGeom>
          <a:noFill/>
        </p:spPr>
        <p:txBody>
          <a:bodyPr wrap="square" lIns="34036" tIns="17018" rIns="34036" bIns="17018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架构方案定稿</a:t>
            </a:r>
            <a:endParaRPr lang="en-US" sz="585" dirty="0"/>
          </a:p>
        </p:txBody>
      </p:sp>
      <p:sp>
        <p:nvSpPr>
          <p:cNvPr id="12" name="Shape 8"/>
          <p:cNvSpPr/>
          <p:nvPr/>
        </p:nvSpPr>
        <p:spPr>
          <a:xfrm>
            <a:off x="2370832" y="3330773"/>
            <a:ext cx="287536" cy="150019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2370832" y="3330773"/>
            <a:ext cx="287536" cy="150019"/>
          </a:xfrm>
          <a:prstGeom prst="rect">
            <a:avLst/>
          </a:prstGeom>
          <a:noFill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W5</a:t>
            </a:r>
            <a:endParaRPr lang="en-US" sz="685" dirty="0"/>
          </a:p>
        </p:txBody>
      </p:sp>
      <p:sp>
        <p:nvSpPr>
          <p:cNvPr id="14" name="Text 10"/>
          <p:cNvSpPr/>
          <p:nvPr/>
        </p:nvSpPr>
        <p:spPr>
          <a:xfrm>
            <a:off x="1871663" y="3537942"/>
            <a:ext cx="1285875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P2: 规范期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1871663" y="3754041"/>
            <a:ext cx="1285875" cy="120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接口协议标准化</a:t>
            </a:r>
            <a:endParaRPr lang="en-US" sz="675" dirty="0"/>
          </a:p>
        </p:txBody>
      </p:sp>
      <p:sp>
        <p:nvSpPr>
          <p:cNvPr id="16" name="Text 12"/>
          <p:cNvSpPr/>
          <p:nvPr/>
        </p:nvSpPr>
        <p:spPr>
          <a:xfrm>
            <a:off x="2221706" y="3917621"/>
            <a:ext cx="585788" cy="167878"/>
          </a:xfrm>
          <a:prstGeom prst="rect">
            <a:avLst/>
          </a:prstGeom>
          <a:noFill/>
        </p:spPr>
        <p:txBody>
          <a:bodyPr wrap="square" lIns="34036" tIns="17018" rIns="34036" bIns="17018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接口定义手册</a:t>
            </a:r>
            <a:endParaRPr lang="en-US" sz="585" dirty="0"/>
          </a:p>
        </p:txBody>
      </p:sp>
      <p:sp>
        <p:nvSpPr>
          <p:cNvPr id="17" name="Shape 13"/>
          <p:cNvSpPr/>
          <p:nvPr/>
        </p:nvSpPr>
        <p:spPr>
          <a:xfrm>
            <a:off x="3601343" y="2168854"/>
            <a:ext cx="569714" cy="150019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3601343" y="2168854"/>
            <a:ext cx="569714" cy="150019"/>
          </a:xfrm>
          <a:prstGeom prst="rect">
            <a:avLst/>
          </a:prstGeom>
          <a:noFill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W6 - W8</a:t>
            </a:r>
            <a:endParaRPr lang="en-US" sz="685" dirty="0"/>
          </a:p>
        </p:txBody>
      </p:sp>
      <p:sp>
        <p:nvSpPr>
          <p:cNvPr id="19" name="Text 15"/>
          <p:cNvSpPr/>
          <p:nvPr/>
        </p:nvSpPr>
        <p:spPr>
          <a:xfrm>
            <a:off x="3243263" y="2376022"/>
            <a:ext cx="1285875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P3: 开发期</a:t>
            </a:r>
            <a:endParaRPr lang="en-US" sz="885" dirty="0"/>
          </a:p>
        </p:txBody>
      </p:sp>
      <p:sp>
        <p:nvSpPr>
          <p:cNvPr id="20" name="Text 16"/>
          <p:cNvSpPr/>
          <p:nvPr/>
        </p:nvSpPr>
        <p:spPr>
          <a:xfrm>
            <a:off x="3243263" y="2592121"/>
            <a:ext cx="1285875" cy="120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核心模块并行实现</a:t>
            </a:r>
            <a:endParaRPr lang="en-US" sz="675" dirty="0"/>
          </a:p>
        </p:txBody>
      </p:sp>
      <p:sp>
        <p:nvSpPr>
          <p:cNvPr id="21" name="Text 17"/>
          <p:cNvSpPr/>
          <p:nvPr/>
        </p:nvSpPr>
        <p:spPr>
          <a:xfrm>
            <a:off x="3434358" y="2755702"/>
            <a:ext cx="903684" cy="146447"/>
          </a:xfrm>
          <a:prstGeom prst="rect">
            <a:avLst/>
          </a:prstGeom>
          <a:noFill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Rough Demo (W8)</a:t>
            </a:r>
            <a:endParaRPr lang="en-US" sz="585" dirty="0"/>
          </a:p>
        </p:txBody>
      </p:sp>
      <p:sp>
        <p:nvSpPr>
          <p:cNvPr id="22" name="Shape 18"/>
          <p:cNvSpPr/>
          <p:nvPr/>
        </p:nvSpPr>
        <p:spPr>
          <a:xfrm>
            <a:off x="4948833" y="3330773"/>
            <a:ext cx="617934" cy="150019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9"/>
          <p:cNvSpPr/>
          <p:nvPr/>
        </p:nvSpPr>
        <p:spPr>
          <a:xfrm>
            <a:off x="4948833" y="3330773"/>
            <a:ext cx="617934" cy="150019"/>
          </a:xfrm>
          <a:prstGeom prst="rect">
            <a:avLst/>
          </a:prstGeom>
          <a:noFill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W9 - W10</a:t>
            </a:r>
            <a:endParaRPr lang="en-US" sz="685" dirty="0"/>
          </a:p>
        </p:txBody>
      </p:sp>
      <p:sp>
        <p:nvSpPr>
          <p:cNvPr id="24" name="Text 20"/>
          <p:cNvSpPr/>
          <p:nvPr/>
        </p:nvSpPr>
        <p:spPr>
          <a:xfrm>
            <a:off x="4614863" y="3537942"/>
            <a:ext cx="1285875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P4: 集成期</a:t>
            </a:r>
            <a:endParaRPr lang="en-US" sz="885" dirty="0"/>
          </a:p>
        </p:txBody>
      </p:sp>
      <p:sp>
        <p:nvSpPr>
          <p:cNvPr id="25" name="Text 21"/>
          <p:cNvSpPr/>
          <p:nvPr/>
        </p:nvSpPr>
        <p:spPr>
          <a:xfrm>
            <a:off x="4614863" y="3754041"/>
            <a:ext cx="1285875" cy="120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全量合并与联调测试</a:t>
            </a:r>
            <a:endParaRPr lang="en-US" sz="675" dirty="0"/>
          </a:p>
        </p:txBody>
      </p:sp>
      <p:sp>
        <p:nvSpPr>
          <p:cNvPr id="26" name="Text 22"/>
          <p:cNvSpPr/>
          <p:nvPr/>
        </p:nvSpPr>
        <p:spPr>
          <a:xfrm>
            <a:off x="4852392" y="3917621"/>
            <a:ext cx="810816" cy="167878"/>
          </a:xfrm>
          <a:prstGeom prst="rect">
            <a:avLst/>
          </a:prstGeom>
          <a:noFill/>
        </p:spPr>
        <p:txBody>
          <a:bodyPr wrap="square" lIns="34036" tIns="17018" rIns="34036" bIns="17018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Alpha 版本 (W10)</a:t>
            </a:r>
            <a:endParaRPr lang="en-US" sz="585" dirty="0"/>
          </a:p>
        </p:txBody>
      </p:sp>
      <p:sp>
        <p:nvSpPr>
          <p:cNvPr id="27" name="Shape 23"/>
          <p:cNvSpPr/>
          <p:nvPr/>
        </p:nvSpPr>
        <p:spPr>
          <a:xfrm>
            <a:off x="6315968" y="2147422"/>
            <a:ext cx="626864" cy="150019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4"/>
          <p:cNvSpPr/>
          <p:nvPr/>
        </p:nvSpPr>
        <p:spPr>
          <a:xfrm>
            <a:off x="6315968" y="2147422"/>
            <a:ext cx="626864" cy="150019"/>
          </a:xfrm>
          <a:prstGeom prst="rect">
            <a:avLst/>
          </a:prstGeom>
          <a:noFill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W11 - W12</a:t>
            </a:r>
            <a:endParaRPr lang="en-US" sz="685" dirty="0"/>
          </a:p>
        </p:txBody>
      </p:sp>
      <p:sp>
        <p:nvSpPr>
          <p:cNvPr id="29" name="Text 25"/>
          <p:cNvSpPr/>
          <p:nvPr/>
        </p:nvSpPr>
        <p:spPr>
          <a:xfrm>
            <a:off x="5986463" y="2354591"/>
            <a:ext cx="1285875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P5: 迭代期</a:t>
            </a:r>
            <a:endParaRPr lang="en-US" sz="885" dirty="0"/>
          </a:p>
        </p:txBody>
      </p:sp>
      <p:sp>
        <p:nvSpPr>
          <p:cNvPr id="30" name="Text 26"/>
          <p:cNvSpPr/>
          <p:nvPr/>
        </p:nvSpPr>
        <p:spPr>
          <a:xfrm>
            <a:off x="5986463" y="2570690"/>
            <a:ext cx="1285875" cy="120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资产填充与性能调优</a:t>
            </a:r>
            <a:endParaRPr lang="en-US" sz="675" dirty="0"/>
          </a:p>
        </p:txBody>
      </p:sp>
      <p:sp>
        <p:nvSpPr>
          <p:cNvPr id="31" name="Text 27"/>
          <p:cNvSpPr/>
          <p:nvPr/>
        </p:nvSpPr>
        <p:spPr>
          <a:xfrm>
            <a:off x="6255246" y="2734270"/>
            <a:ext cx="748308" cy="167878"/>
          </a:xfrm>
          <a:prstGeom prst="rect">
            <a:avLst/>
          </a:prstGeom>
          <a:noFill/>
        </p:spPr>
        <p:txBody>
          <a:bodyPr wrap="square" lIns="34036" tIns="17018" rIns="34036" bIns="17018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Beta 版本 (W12)</a:t>
            </a:r>
            <a:endParaRPr lang="en-US" sz="585" dirty="0"/>
          </a:p>
        </p:txBody>
      </p:sp>
      <p:sp>
        <p:nvSpPr>
          <p:cNvPr id="32" name="Shape 28"/>
          <p:cNvSpPr/>
          <p:nvPr/>
        </p:nvSpPr>
        <p:spPr>
          <a:xfrm>
            <a:off x="7672388" y="3330773"/>
            <a:ext cx="657225" cy="150019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9"/>
          <p:cNvSpPr/>
          <p:nvPr/>
        </p:nvSpPr>
        <p:spPr>
          <a:xfrm>
            <a:off x="7672388" y="3330773"/>
            <a:ext cx="657225" cy="150019"/>
          </a:xfrm>
          <a:prstGeom prst="rect">
            <a:avLst/>
          </a:prstGeom>
          <a:noFill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W13 - W14</a:t>
            </a:r>
            <a:endParaRPr lang="en-US" sz="685" dirty="0"/>
          </a:p>
        </p:txBody>
      </p:sp>
      <p:sp>
        <p:nvSpPr>
          <p:cNvPr id="34" name="Text 30"/>
          <p:cNvSpPr/>
          <p:nvPr/>
        </p:nvSpPr>
        <p:spPr>
          <a:xfrm>
            <a:off x="7358063" y="3537942"/>
            <a:ext cx="1285875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P6/7: 结项</a:t>
            </a:r>
            <a:endParaRPr lang="en-US" sz="885" dirty="0"/>
          </a:p>
        </p:txBody>
      </p:sp>
      <p:sp>
        <p:nvSpPr>
          <p:cNvPr id="35" name="Text 31"/>
          <p:cNvSpPr/>
          <p:nvPr/>
        </p:nvSpPr>
        <p:spPr>
          <a:xfrm>
            <a:off x="7358063" y="3754041"/>
            <a:ext cx="1285875" cy="120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成果汇总与最终验收</a:t>
            </a:r>
            <a:endParaRPr lang="en-US" sz="675" dirty="0"/>
          </a:p>
        </p:txBody>
      </p:sp>
      <p:sp>
        <p:nvSpPr>
          <p:cNvPr id="36" name="Text 32"/>
          <p:cNvSpPr/>
          <p:nvPr/>
        </p:nvSpPr>
        <p:spPr>
          <a:xfrm>
            <a:off x="7708106" y="3917621"/>
            <a:ext cx="585788" cy="167878"/>
          </a:xfrm>
          <a:prstGeom prst="rect">
            <a:avLst/>
          </a:prstGeom>
          <a:noFill/>
        </p:spPr>
        <p:txBody>
          <a:bodyPr wrap="square" lIns="34036" tIns="17018" rIns="34036" bIns="17018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项目完结交付</a:t>
            </a:r>
            <a:endParaRPr lang="en-US" sz="5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85750" y="1550026"/>
            <a:ext cx="8572500" cy="2043447"/>
          </a:xfrm>
          <a:prstGeom prst="rect">
            <a:avLst/>
          </a:prstGeom>
          <a:solidFill>
            <a:srgbClr val="000000">
              <a:alpha val="0"/>
            </a:srgbClr>
          </a:solidFill>
          <a:ln w="8229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3856732" y="2064376"/>
            <a:ext cx="1430536" cy="294680"/>
          </a:xfrm>
          <a:prstGeom prst="rect">
            <a:avLst/>
          </a:prstGeom>
          <a:noFill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kern="0" spc="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TWO</a:t>
            </a:r>
            <a:endParaRPr lang="en-US" sz="1195" dirty="0"/>
          </a:p>
        </p:txBody>
      </p:sp>
      <p:sp>
        <p:nvSpPr>
          <p:cNvPr id="6" name="Text 2"/>
          <p:cNvSpPr/>
          <p:nvPr/>
        </p:nvSpPr>
        <p:spPr>
          <a:xfrm>
            <a:off x="2286000" y="2530506"/>
            <a:ext cx="4572000" cy="5486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个人子任务拆分和进度</a:t>
            </a:r>
            <a:endParaRPr lang="en-US" sz="329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571500" y="428625"/>
            <a:ext cx="8572500" cy="57507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>
            <a:off x="571500" y="428625"/>
            <a:ext cx="71438" cy="575072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742950" y="428625"/>
            <a:ext cx="2911053" cy="54790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A组</a:t>
            </a: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：</a:t>
            </a:r>
            <a:r>
              <a:rPr lang="zh-CN" alt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吴嘉淇 </a:t>
            </a:r>
            <a:r>
              <a:rPr lang="en-US" altLang="zh-CN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-- </a:t>
            </a:r>
            <a:r>
              <a:rPr lang="zh-CN" alt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仿真渲染与素材</a:t>
            </a:r>
          </a:p>
          <a:p>
            <a:pPr marL="0" indent="0" algn="l">
              <a:lnSpc>
                <a:spcPts val="2200"/>
              </a:lnSpc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42950" y="816173"/>
            <a:ext cx="1683153" cy="14343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zh-CN" altLang="en-US" sz="9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激光光点在视网膜上的动态模拟</a:t>
            </a:r>
          </a:p>
        </p:txBody>
      </p:sp>
      <p:sp>
        <p:nvSpPr>
          <p:cNvPr id="40" name="Shape 0"/>
          <p:cNvSpPr/>
          <p:nvPr/>
        </p:nvSpPr>
        <p:spPr>
          <a:xfrm>
            <a:off x="233172" y="1334798"/>
            <a:ext cx="8572500" cy="356638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Montserrat" pitchFamily="34" charset="0"/>
              </a:rPr>
              <a:t>临床情况：</a:t>
            </a:r>
            <a:r>
              <a:rPr lang="zh-CN" altLang="en-US" sz="1600" dirty="0"/>
              <a:t>在真实的视网膜光凝手术中，医生试打环节只能依赖观察视网膜上的</a:t>
            </a:r>
            <a:r>
              <a:rPr lang="zh-CN" altLang="en-US" sz="1600" b="1" dirty="0"/>
              <a:t>视觉变化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Montserrat" pitchFamily="34" charset="0"/>
              </a:rPr>
              <a:t>游戏系统隐患：</a:t>
            </a:r>
            <a:r>
              <a:rPr lang="zh-CN" altLang="en-US" sz="1600" dirty="0"/>
              <a:t>如果前端渲染做出了一个视觉上的</a:t>
            </a:r>
            <a:r>
              <a:rPr lang="en-US" altLang="zh-CN" sz="1600" dirty="0"/>
              <a:t>II</a:t>
            </a:r>
            <a:r>
              <a:rPr lang="zh-CN" altLang="en-US" sz="1600" dirty="0"/>
              <a:t>级光斑，但是在真实测试数据中这样的参数组合会导致灼烧，使得玩家被扣分，那么整套游戏的可用性会产生极大的问题。</a:t>
            </a:r>
            <a:endParaRPr lang="en-US" altLang="zh-CN" sz="1600" dirty="0"/>
          </a:p>
          <a:p>
            <a:pPr>
              <a:lnSpc>
                <a:spcPts val="2200"/>
              </a:lnSpc>
            </a:pPr>
            <a:endParaRPr lang="en-US" altLang="zh-CN" sz="1600" b="1" dirty="0">
              <a:solidFill>
                <a:srgbClr val="000000"/>
              </a:solidFill>
              <a:latin typeface="Montserrat" pitchFamily="34" charset="0"/>
            </a:endParaRPr>
          </a:p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Montserrat" pitchFamily="34" charset="0"/>
              </a:rPr>
              <a:t>核心工作： </a:t>
            </a:r>
            <a:endParaRPr lang="en-US" altLang="zh-CN" sz="1600" b="1" dirty="0">
              <a:solidFill>
                <a:srgbClr val="000000"/>
              </a:solidFill>
              <a:latin typeface="Montserrat" pitchFamily="34" charset="0"/>
            </a:endParaRPr>
          </a:p>
          <a:p>
            <a:pPr>
              <a:lnSpc>
                <a:spcPts val="22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结合物理规律和分割出来的光点形态尽可能拟合真实的光点效果。</a:t>
            </a:r>
            <a:endParaRPr lang="en-US" altLang="zh-CN" sz="1600" dirty="0">
              <a:solidFill>
                <a:srgbClr val="000000"/>
              </a:solidFill>
              <a:latin typeface="Montserrat" pitchFamily="34" charset="0"/>
            </a:endParaRPr>
          </a:p>
          <a:p>
            <a:pPr>
              <a:lnSpc>
                <a:spcPts val="2200"/>
              </a:lnSpc>
            </a:pPr>
            <a:endParaRPr lang="en-US" altLang="zh-CN" sz="1600" b="1" dirty="0">
              <a:solidFill>
                <a:srgbClr val="000000"/>
              </a:solidFill>
              <a:latin typeface="Montserrat" pitchFamily="34" charset="0"/>
            </a:endParaRPr>
          </a:p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Montserrat" pitchFamily="34" charset="0"/>
              </a:rPr>
              <a:t>验收指标： </a:t>
            </a:r>
            <a:endParaRPr lang="en-US" altLang="zh-CN" sz="1600" b="1" dirty="0">
              <a:solidFill>
                <a:srgbClr val="000000"/>
              </a:solidFill>
              <a:latin typeface="Montserrat" pitchFamily="34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Montserrat" pitchFamily="34" charset="0"/>
              </a:rPr>
              <a:t>1.</a:t>
            </a: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从医院提供数据中分割少量的光斑点，对比相同参数下光斑点的渲染效果是否基本一致，设计一套量化的阈值。</a:t>
            </a:r>
            <a:endParaRPr lang="en-US" altLang="zh-CN" sz="1600" dirty="0">
              <a:solidFill>
                <a:srgbClr val="000000"/>
              </a:solidFill>
              <a:latin typeface="Montserrat" pitchFamily="34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Montserrat" pitchFamily="34" charset="0"/>
              </a:rPr>
              <a:t>2.</a:t>
            </a: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自行肉眼对比并且咨询专家意见。</a:t>
            </a:r>
            <a:endParaRPr lang="en-US" altLang="zh-CN" sz="1600" dirty="0">
              <a:solidFill>
                <a:srgbClr val="000000"/>
              </a:solidFill>
              <a:latin typeface="Montserrat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571500" y="428625"/>
            <a:ext cx="8572500" cy="57507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>
            <a:off x="571500" y="428625"/>
            <a:ext cx="71438" cy="575072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742950" y="428625"/>
            <a:ext cx="3172460" cy="5638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A组</a:t>
            </a: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：</a:t>
            </a:r>
            <a:r>
              <a:rPr lang="zh-CN" alt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林鸿渝 </a:t>
            </a:r>
            <a:r>
              <a:rPr lang="en-US" altLang="zh-CN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-- </a:t>
            </a:r>
            <a:r>
              <a:rPr lang="zh-CN" alt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流程控制与主场景</a:t>
            </a:r>
          </a:p>
          <a:p>
            <a:pPr marL="0" indent="0" algn="l">
              <a:lnSpc>
                <a:spcPts val="2200"/>
              </a:lnSpc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42950" y="816173"/>
            <a:ext cx="131318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zh-CN" altLang="en-US" sz="9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游戏主场景以及流程构建</a:t>
            </a:r>
          </a:p>
        </p:txBody>
      </p:sp>
      <p:pic>
        <p:nvPicPr>
          <p:cNvPr id="2" name="图片 1" descr="d8a893a88546e8550bea7f3d01587d3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030" y="310515"/>
            <a:ext cx="2745740" cy="4536440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233045" y="1334770"/>
            <a:ext cx="5857875" cy="356616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pPr>
              <a:lnSpc>
                <a:spcPts val="2200"/>
              </a:lnSpc>
            </a:pPr>
            <a:endParaRPr lang="zh-CN" altLang="en-US" sz="1600" dirty="0">
              <a:solidFill>
                <a:srgbClr val="000000"/>
              </a:solidFill>
              <a:latin typeface="Montserrat" pitchFamily="34" charset="0"/>
            </a:endParaRPr>
          </a:p>
        </p:txBody>
      </p:sp>
      <p:sp>
        <p:nvSpPr>
          <p:cNvPr id="9" name="Shape 0"/>
          <p:cNvSpPr/>
          <p:nvPr/>
        </p:nvSpPr>
        <p:spPr>
          <a:xfrm>
            <a:off x="233045" y="1334770"/>
            <a:ext cx="6102985" cy="356616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Montserrat" pitchFamily="34" charset="0"/>
              </a:rPr>
              <a:t>核心工作： </a:t>
            </a:r>
            <a:endParaRPr lang="en-US" altLang="zh-CN" sz="1600" b="1" dirty="0">
              <a:solidFill>
                <a:srgbClr val="000000"/>
              </a:solidFill>
              <a:latin typeface="Montserrat" pitchFamily="34" charset="0"/>
            </a:endParaRPr>
          </a:p>
          <a:p>
            <a:pPr>
              <a:lnSpc>
                <a:spcPts val="22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完成游戏主要场景的可视化呈现</a:t>
            </a:r>
            <a:r>
              <a:rPr lang="en-US" altLang="zh-CN" sz="1600" dirty="0">
                <a:solidFill>
                  <a:srgbClr val="000000"/>
                </a:solidFill>
                <a:latin typeface="Montserrat" pitchFamily="34" charset="0"/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页面切换及流程控制</a:t>
            </a:r>
            <a:r>
              <a:rPr lang="en-US" altLang="zh-CN" sz="1600" dirty="0">
                <a:solidFill>
                  <a:srgbClr val="000000"/>
                </a:solidFill>
                <a:latin typeface="Montserrat" pitchFamily="34" charset="0"/>
              </a:rPr>
              <a:t>。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solidFill>
                <a:srgbClr val="000000"/>
              </a:solidFill>
              <a:latin typeface="Montserrat" pitchFamily="34" charset="0"/>
            </a:endParaRPr>
          </a:p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Arial Bold" panose="020B0604020202090204" charset="0"/>
              </a:rPr>
              <a:t>内容概览</a:t>
            </a:r>
            <a:r>
              <a:rPr lang="en-US" altLang="zh-CN" sz="1600" b="1" dirty="0">
                <a:solidFill>
                  <a:srgbClr val="000000"/>
                </a:solidFill>
                <a:latin typeface="Arial Bold" panose="020B0604020202090204" charset="0"/>
              </a:rPr>
              <a:t>：</a:t>
            </a:r>
          </a:p>
          <a:p>
            <a:pPr>
              <a:lnSpc>
                <a:spcPts val="22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游戏场景包括主菜单</a:t>
            </a:r>
            <a:r>
              <a:rPr lang="en-US" altLang="zh-CN" sz="1600" dirty="0">
                <a:solidFill>
                  <a:srgbClr val="000000"/>
                </a:solidFill>
                <a:latin typeface="Montserrat" pitchFamily="34" charset="0"/>
              </a:rPr>
              <a:t>、</a:t>
            </a: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游戏内电脑</a:t>
            </a:r>
            <a:r>
              <a:rPr lang="en-US" altLang="zh-CN" sz="1600" dirty="0">
                <a:solidFill>
                  <a:srgbClr val="000000"/>
                </a:solidFill>
                <a:latin typeface="Montserrat" pitchFamily="34" charset="0"/>
              </a:rPr>
              <a:t>、</a:t>
            </a: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光凝术手术模拟以及诊疗报告与得分</a:t>
            </a:r>
            <a:r>
              <a:rPr lang="en-US" altLang="zh-CN" sz="1600" dirty="0">
                <a:solidFill>
                  <a:srgbClr val="000000"/>
                </a:solidFill>
                <a:latin typeface="Montserrat" pitchFamily="34" charset="0"/>
              </a:rPr>
              <a:t>。</a:t>
            </a: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场景搭建过程中需实现页面切换</a:t>
            </a:r>
            <a:r>
              <a:rPr lang="en-US" altLang="zh-CN" sz="1600" dirty="0">
                <a:solidFill>
                  <a:srgbClr val="000000"/>
                </a:solidFill>
                <a:latin typeface="Montserrat" pitchFamily="34" charset="0"/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以及场景内功能</a:t>
            </a:r>
            <a:r>
              <a:rPr lang="en-US" altLang="zh-CN" sz="1600" dirty="0">
                <a:solidFill>
                  <a:srgbClr val="000000"/>
                </a:solidFill>
                <a:latin typeface="Montserrat" pitchFamily="34" charset="0"/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比如游戏内电脑的指导性游戏</a:t>
            </a:r>
            <a:r>
              <a:rPr lang="en-US" altLang="zh-CN" sz="1600" dirty="0">
                <a:solidFill>
                  <a:srgbClr val="000000"/>
                </a:solidFill>
                <a:latin typeface="Montserrat" pitchFamily="34" charset="0"/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主菜单以及暂停菜单的读存档</a:t>
            </a:r>
            <a:r>
              <a:rPr lang="en-US" altLang="zh-CN" sz="1600" dirty="0">
                <a:solidFill>
                  <a:srgbClr val="000000"/>
                </a:solidFill>
                <a:latin typeface="Montserrat" pitchFamily="34" charset="0"/>
              </a:rPr>
              <a:t>。</a:t>
            </a:r>
          </a:p>
          <a:p>
            <a:pPr>
              <a:lnSpc>
                <a:spcPts val="2200"/>
              </a:lnSpc>
            </a:pPr>
            <a:endParaRPr lang="en-US" altLang="zh-CN" sz="1600" b="1" dirty="0">
              <a:solidFill>
                <a:srgbClr val="000000"/>
              </a:solidFill>
              <a:latin typeface="Montserrat" pitchFamily="34" charset="0"/>
            </a:endParaRPr>
          </a:p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Montserrat" pitchFamily="34" charset="0"/>
              </a:rPr>
              <a:t>验收指标： </a:t>
            </a:r>
            <a:endParaRPr lang="en-US" altLang="zh-CN" sz="1600" b="1" dirty="0">
              <a:solidFill>
                <a:srgbClr val="000000"/>
              </a:solidFill>
              <a:latin typeface="Montserrat" pitchFamily="34" charset="0"/>
            </a:endParaRPr>
          </a:p>
          <a:p>
            <a:pPr>
              <a:lnSpc>
                <a:spcPts val="22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整体体验流畅</a:t>
            </a:r>
            <a:r>
              <a:rPr lang="en-US" altLang="zh-CN" sz="1600" dirty="0">
                <a:solidFill>
                  <a:srgbClr val="000000"/>
                </a:solidFill>
                <a:latin typeface="Montserrat" pitchFamily="34" charset="0"/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流程控制合理</a:t>
            </a:r>
            <a:r>
              <a:rPr lang="en-US" altLang="zh-CN" sz="1600" dirty="0">
                <a:solidFill>
                  <a:srgbClr val="000000"/>
                </a:solidFill>
                <a:latin typeface="Montserrat" pitchFamily="34" charset="0"/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场景功能完备</a:t>
            </a:r>
            <a:r>
              <a:rPr lang="en-US" altLang="zh-CN" sz="1600" dirty="0">
                <a:solidFill>
                  <a:srgbClr val="000000"/>
                </a:solidFill>
                <a:latin typeface="Montserrat" pitchFamily="34" charset="0"/>
              </a:rPr>
              <a:t>。</a:t>
            </a:r>
          </a:p>
          <a:p>
            <a:pPr>
              <a:lnSpc>
                <a:spcPts val="22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非手术部分的页面设计美观</a:t>
            </a:r>
            <a:r>
              <a:rPr lang="en-US" altLang="zh-CN" sz="1600" dirty="0">
                <a:solidFill>
                  <a:srgbClr val="000000"/>
                </a:solidFill>
                <a:latin typeface="Montserrat" pitchFamily="34" charset="0"/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手术部分拟真自洽</a:t>
            </a:r>
            <a:r>
              <a:rPr lang="en-US" altLang="zh-CN" sz="1600" dirty="0">
                <a:solidFill>
                  <a:srgbClr val="000000"/>
                </a:solidFill>
                <a:latin typeface="Montserrat" pitchFamily="34" charset="0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571500" y="428625"/>
            <a:ext cx="8572500" cy="57507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>
            <a:off x="571500" y="428625"/>
            <a:ext cx="71438" cy="575072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742950" y="428625"/>
            <a:ext cx="2849245" cy="5638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A组</a:t>
            </a: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：</a:t>
            </a:r>
            <a:r>
              <a:rPr lang="zh-CN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陈俊希</a:t>
            </a:r>
            <a:r>
              <a:rPr lang="zh-CN" alt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-- </a:t>
            </a:r>
            <a:r>
              <a:rPr lang="zh-CN" alt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后端存档与逻辑</a:t>
            </a:r>
          </a:p>
          <a:p>
            <a:pPr marL="0" indent="0" algn="l">
              <a:lnSpc>
                <a:spcPts val="2200"/>
              </a:lnSpc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42950" y="816173"/>
            <a:ext cx="167132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zh-CN" altLang="en-US" sz="9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玩家存档，数据存取，评分判定</a:t>
            </a:r>
          </a:p>
        </p:txBody>
      </p:sp>
      <p:sp>
        <p:nvSpPr>
          <p:cNvPr id="40" name="Shape 0"/>
          <p:cNvSpPr/>
          <p:nvPr/>
        </p:nvSpPr>
        <p:spPr>
          <a:xfrm>
            <a:off x="233172" y="1334798"/>
            <a:ext cx="8572500" cy="356638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Montserrat" pitchFamily="34" charset="0"/>
              </a:rPr>
              <a:t>游戏系统隐患：</a:t>
            </a:r>
            <a:r>
              <a:rPr lang="zh-CN" altLang="en-US" sz="1600" dirty="0"/>
              <a:t>如果存档系统出现数据丢失或读取错误，玩家的历史操作记录将无法追溯；若评分判定逻辑与实际操作不一致，则会影响玩家对于正确操作的判断，破坏准确性和公平性。</a:t>
            </a:r>
          </a:p>
          <a:p>
            <a:pPr>
              <a:lnSpc>
                <a:spcPts val="2200"/>
              </a:lnSpc>
            </a:pPr>
            <a:endParaRPr lang="en-US" altLang="zh-CN" sz="1600" b="1" dirty="0">
              <a:solidFill>
                <a:srgbClr val="000000"/>
              </a:solidFill>
              <a:latin typeface="Montserrat" pitchFamily="34" charset="0"/>
            </a:endParaRPr>
          </a:p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Montserrat" pitchFamily="34" charset="0"/>
              </a:rPr>
              <a:t>核心工作： </a:t>
            </a:r>
            <a:endParaRPr lang="en-US" altLang="zh-CN" sz="1600" b="1" dirty="0">
              <a:solidFill>
                <a:srgbClr val="000000"/>
              </a:solidFill>
              <a:latin typeface="Montserrat" pitchFamily="34" charset="0"/>
            </a:endParaRPr>
          </a:p>
          <a:p>
            <a:pPr>
              <a:lnSpc>
                <a:spcPts val="22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设计并实现玩家存档模块与数据存取接口，依据操作数据构建评分的判定逻辑，确保每局游戏的结果都能回溯并验证，且能够正确给出评分。</a:t>
            </a:r>
            <a:endParaRPr lang="en-US" altLang="zh-CN" sz="1600" dirty="0">
              <a:solidFill>
                <a:srgbClr val="000000"/>
              </a:solidFill>
              <a:latin typeface="Montserrat" pitchFamily="34" charset="0"/>
            </a:endParaRPr>
          </a:p>
          <a:p>
            <a:pPr>
              <a:lnSpc>
                <a:spcPts val="2200"/>
              </a:lnSpc>
            </a:pPr>
            <a:endParaRPr lang="en-US" altLang="zh-CN" sz="1600" b="1" dirty="0">
              <a:solidFill>
                <a:srgbClr val="000000"/>
              </a:solidFill>
              <a:latin typeface="Montserrat" pitchFamily="34" charset="0"/>
            </a:endParaRPr>
          </a:p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Montserrat" pitchFamily="34" charset="0"/>
              </a:rPr>
              <a:t>验收指标： </a:t>
            </a:r>
            <a:endParaRPr lang="en-US" altLang="zh-CN" sz="1600" b="1" dirty="0">
              <a:solidFill>
                <a:srgbClr val="000000"/>
              </a:solidFill>
              <a:latin typeface="Montserrat" pitchFamily="34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Montserrat" pitchFamily="34" charset="0"/>
              </a:rPr>
              <a:t>1.</a:t>
            </a: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模拟多轮的游戏操作，验证存档数据的完整性和读写一致性，设计覆盖边界条件的测试用例。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Montserrat" pitchFamily="34" charset="0"/>
              </a:rPr>
              <a:t>2.</a:t>
            </a:r>
            <a:r>
              <a:rPr lang="zh-CN" altLang="en-US" sz="1600" dirty="0">
                <a:solidFill>
                  <a:srgbClr val="000000"/>
                </a:solidFill>
                <a:latin typeface="Montserrat" pitchFamily="34" charset="0"/>
              </a:rPr>
              <a:t>与前端联调结算流程，确认评分判定结果与操作数据的对应关系符合设计的预期。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571500" y="428625"/>
            <a:ext cx="8572500" cy="57507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>
            <a:off x="571500" y="428625"/>
            <a:ext cx="71438" cy="575072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742950" y="428625"/>
            <a:ext cx="2849245" cy="5638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sz="1600" b="1">
                <a:solidFill>
                  <a:srgbClr val="000000"/>
                </a:solidFill>
                <a:latin typeface="Montserrat"/>
              </a:rPr>
              <a:t>B组：吴雨潼 -- 病例数据与图像生成</a:t>
            </a:r>
            <a:endParaRPr lang="zh-CN" altLang="en-US" sz="1600" b="1" dirty="0">
              <a:solidFill>
                <a:srgbClr val="00000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endParaRPr lang="zh-CN" altLang="en-US" sz="1600" b="1" dirty="0">
              <a:solidFill>
                <a:srgbClr val="00000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42950" y="816173"/>
            <a:ext cx="167132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sz="940">
                <a:solidFill>
                  <a:srgbClr val="666666"/>
                </a:solidFill>
                <a:latin typeface="Montserrat"/>
              </a:rPr>
              <a:t>医院数据对接、JSON标准化、术前术后影像生成</a:t>
            </a:r>
            <a:endParaRPr lang="zh-CN" altLang="en-US" sz="940" dirty="0">
              <a:solidFill>
                <a:srgbClr val="66666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40" name="Shape 0"/>
          <p:cNvSpPr/>
          <p:nvPr/>
        </p:nvSpPr>
        <p:spPr>
          <a:xfrm>
            <a:off x="233172" y="1334798"/>
            <a:ext cx="8572500" cy="356638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pPr>
              <a:lnSpc>
                <a:spcPts val="2200"/>
              </a:lnSpc>
            </a:pPr>
            <a:r>
              <a:rPr sz="1600" b="1">
                <a:solidFill>
                  <a:srgbClr val="000000"/>
                </a:solidFill>
                <a:latin typeface="Montserrat"/>
              </a:rPr>
              <a:t>系统需求：</a:t>
            </a:r>
            <a:endParaRPr lang="zh-CN" altLang="en-US" sz="1600" dirty="0"/>
          </a:p>
          <a:p>
            <a:r>
              <a:rPr sz="1600">
                <a:latin typeface="Montserrat"/>
              </a:rPr>
              <a:t>如果医院提供的病例数据来源不同、字段不统一，后续训练、评分与关卡配置就难以直接复用；若术前术后医学影像样本不足，模型生成结果的多样性和真实性也会受限，影响教学系统的数据支撑能力。</a:t>
            </a:r>
          </a:p>
          <a:p>
            <a:endParaRPr sz="1600">
              <a:latin typeface="Montserrat"/>
            </a:endParaRPr>
          </a:p>
          <a:p>
            <a:r>
              <a:rPr sz="1600" b="1">
                <a:solidFill>
                  <a:srgbClr val="000000"/>
                </a:solidFill>
                <a:latin typeface="Montserrat"/>
              </a:rPr>
              <a:t>核心工作：</a:t>
            </a:r>
          </a:p>
          <a:p>
            <a:r>
              <a:rPr sz="1600">
                <a:latin typeface="Montserrat"/>
              </a:rPr>
              <a:t>1. 与医院提供的数据进行对接、清洗和整理，统一字段、标签与命名规范，转换为格式化 JSON，建立可复用的标准数据格式。</a:t>
            </a:r>
          </a:p>
          <a:p>
            <a:r>
              <a:rPr sz="1600">
                <a:latin typeface="Montserrat"/>
              </a:rPr>
              <a:t>2. 基于术前术后医学影像训练生成模型，扩充更加丰富的图像样本，为病例展示、训练和后续模块调用提供数据支持。</a:t>
            </a:r>
          </a:p>
          <a:p>
            <a:endParaRPr sz="1600">
              <a:latin typeface="Montserrat"/>
            </a:endParaRPr>
          </a:p>
          <a:p>
            <a:r>
              <a:rPr sz="1600" b="1">
                <a:solidFill>
                  <a:srgbClr val="000000"/>
                </a:solidFill>
                <a:latin typeface="Montserrat"/>
              </a:rPr>
              <a:t>验收指标：</a:t>
            </a:r>
          </a:p>
          <a:p>
            <a:r>
              <a:rPr sz="1600">
                <a:latin typeface="Montserrat"/>
              </a:rPr>
              <a:t>1. 完成一套统一的数据标准，能够稳定描述病例图像、病种类别、术前术后阶段及相关标签信息。</a:t>
            </a:r>
          </a:p>
          <a:p>
            <a:r>
              <a:rPr sz="1600">
                <a:latin typeface="Montserrat"/>
              </a:rPr>
              <a:t>2. 产出一批结构规范、内容可用的生成图像数据，支持教学系统中的病例扩展与模型训练。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8CFC9-067F-5E02-B46E-B28C66272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A7D932B9-F071-EDA2-BA9C-8E90D1231DA8}"/>
              </a:ext>
            </a:extLst>
          </p:cNvPr>
          <p:cNvSpPr/>
          <p:nvPr/>
        </p:nvSpPr>
        <p:spPr>
          <a:xfrm>
            <a:off x="571500" y="428625"/>
            <a:ext cx="8572500" cy="57507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CC7F7BA3-BFA4-00F4-3758-AD12566CBFDB}"/>
              </a:ext>
            </a:extLst>
          </p:cNvPr>
          <p:cNvSpPr/>
          <p:nvPr/>
        </p:nvSpPr>
        <p:spPr>
          <a:xfrm>
            <a:off x="571500" y="428625"/>
            <a:ext cx="71438" cy="575072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8C6B0717-7144-3C5B-1B6B-6C958D65CE25}"/>
              </a:ext>
            </a:extLst>
          </p:cNvPr>
          <p:cNvSpPr/>
          <p:nvPr/>
        </p:nvSpPr>
        <p:spPr>
          <a:xfrm>
            <a:off x="742950" y="428625"/>
            <a:ext cx="3269492" cy="8104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00"/>
              </a:lnSpc>
            </a:pPr>
            <a:r>
              <a:rPr sz="1600" b="1">
                <a:solidFill>
                  <a:srgbClr val="000000"/>
                </a:solidFill>
                <a:latin typeface="Montserrat"/>
              </a:rPr>
              <a:t>B组：</a:t>
            </a:r>
            <a:r>
              <a:rPr lang="en-US" altLang="zh-CN" sz="16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冯俊铭</a:t>
            </a:r>
            <a:r>
              <a:rPr sz="1600" b="1">
                <a:solidFill>
                  <a:srgbClr val="000000"/>
                </a:solidFill>
                <a:latin typeface="Montserrat"/>
              </a:rPr>
              <a:t>--</a:t>
            </a:r>
            <a:r>
              <a:rPr lang="zh-CN" altLang="en-US" sz="1600" b="1">
                <a:solidFill>
                  <a:srgbClr val="000000"/>
                </a:solidFill>
                <a:latin typeface="Montserrat"/>
              </a:rPr>
              <a:t>评分反馈与建议</a:t>
            </a:r>
          </a:p>
          <a:p>
            <a:pPr>
              <a:lnSpc>
                <a:spcPts val="2200"/>
              </a:lnSpc>
            </a:pPr>
            <a:endParaRPr lang="zh-CN" altLang="en-US" sz="1600" b="1">
              <a:solidFill>
                <a:srgbClr val="00000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endParaRPr lang="zh-CN" altLang="en-US" sz="1600" b="1" dirty="0">
              <a:solidFill>
                <a:srgbClr val="00000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BEAC181-5A7C-B865-F313-CD9A796A1520}"/>
              </a:ext>
            </a:extLst>
          </p:cNvPr>
          <p:cNvSpPr/>
          <p:nvPr/>
        </p:nvSpPr>
        <p:spPr>
          <a:xfrm>
            <a:off x="742949" y="816173"/>
            <a:ext cx="5309833" cy="2991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sz="940">
                <a:solidFill>
                  <a:srgbClr val="666666"/>
                </a:solidFill>
                <a:latin typeface="Montserrat"/>
              </a:rPr>
              <a:t>医院数据对接、JSON标准化、</a:t>
            </a:r>
            <a:r>
              <a:rPr lang="en-US" altLang="zh-CN" sz="94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设计基于操作日志的评分反馈机制</a:t>
            </a:r>
            <a:r>
              <a:rPr lang="zh-CN" altLang="en-US" sz="94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、</a:t>
            </a:r>
            <a:r>
              <a:rPr lang="en-US" altLang="zh-CN" sz="8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收集并提供前端所需视觉素材</a:t>
            </a:r>
            <a:endParaRPr lang="en-US" altLang="zh-CN" sz="800"/>
          </a:p>
          <a:p>
            <a:pPr>
              <a:lnSpc>
                <a:spcPts val="1200"/>
              </a:lnSpc>
            </a:pPr>
            <a:endParaRPr lang="en-US" altLang="zh-CN" sz="940" dirty="0">
              <a:solidFill>
                <a:srgbClr val="66666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40" name="Shape 0">
            <a:extLst>
              <a:ext uri="{FF2B5EF4-FFF2-40B4-BE49-F238E27FC236}">
                <a16:creationId xmlns:a16="http://schemas.microsoft.com/office/drawing/2014/main" id="{9D3825F2-D01F-92E8-677D-940DC5CACD9F}"/>
              </a:ext>
            </a:extLst>
          </p:cNvPr>
          <p:cNvSpPr/>
          <p:nvPr/>
        </p:nvSpPr>
        <p:spPr>
          <a:xfrm>
            <a:off x="233172" y="1334798"/>
            <a:ext cx="8572500" cy="356638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pPr>
              <a:lnSpc>
                <a:spcPts val="2200"/>
              </a:lnSpc>
            </a:pPr>
            <a:r>
              <a:rPr sz="1600" b="1">
                <a:solidFill>
                  <a:srgbClr val="000000"/>
                </a:solidFill>
                <a:latin typeface="Montserrat"/>
              </a:rPr>
              <a:t>系统需求：</a:t>
            </a:r>
            <a:endParaRPr lang="zh-CN" altLang="en-US" sz="1600" dirty="0"/>
          </a:p>
          <a:p>
            <a:r>
              <a:rPr sz="1600">
                <a:latin typeface="Montserrat"/>
              </a:rPr>
              <a:t>如果医院提供的病例数据来源不同、字段不统一，后续训练、评分与关卡配置就难以直接复用；</a:t>
            </a:r>
            <a:r>
              <a:rPr lang="zh-CN" altLang="en-US" sz="1600">
                <a:solidFill>
                  <a:srgbClr val="000000"/>
                </a:solidFill>
                <a:latin typeface="Montserrat" pitchFamily="34" charset="0"/>
              </a:rPr>
              <a:t>基于目前少样本及医学领域严谨性的要求，</a:t>
            </a:r>
            <a:r>
              <a:rPr lang="zh-CN" altLang="en-US" sz="16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需要使用数学建模</a:t>
            </a:r>
            <a:r>
              <a:rPr lang="en-US" altLang="zh-CN" sz="16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</a:t>
            </a:r>
            <a:r>
              <a:rPr lang="zh-CN" altLang="en-US" sz="16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大语言模型的方式设计</a:t>
            </a:r>
            <a:r>
              <a:rPr lang="en-US" altLang="zh-CN" sz="16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评分反馈机制</a:t>
            </a:r>
            <a:r>
              <a:rPr lang="zh-CN" altLang="en-US" sz="16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。</a:t>
            </a:r>
            <a:endParaRPr lang="en-US" altLang="zh-CN" sz="1600">
              <a:solidFill>
                <a:srgbClr val="00000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r>
              <a:rPr sz="1600" b="1">
                <a:solidFill>
                  <a:srgbClr val="000000"/>
                </a:solidFill>
                <a:latin typeface="Montserrat"/>
              </a:rPr>
              <a:t>核心工作：</a:t>
            </a:r>
          </a:p>
          <a:p>
            <a:r>
              <a:rPr sz="1600">
                <a:latin typeface="Montserrat"/>
              </a:rPr>
              <a:t>1. 与医院提供的数据进行对接、清洗和整理，统一字段、标签与命名规范，转换为格式化 JSON，建立可复用的标准数据格式。</a:t>
            </a:r>
          </a:p>
          <a:p>
            <a:r>
              <a:rPr sz="1600">
                <a:latin typeface="Montserrat"/>
              </a:rPr>
              <a:t>2. 基于</a:t>
            </a:r>
            <a:r>
              <a:rPr lang="zh-CN" altLang="en-US" sz="1600">
                <a:latin typeface="Montserrat"/>
              </a:rPr>
              <a:t>医院提供的数据设计相应的评分反馈机制</a:t>
            </a:r>
            <a:endParaRPr sz="1600">
              <a:latin typeface="Montserrat"/>
            </a:endParaRPr>
          </a:p>
          <a:p>
            <a:r>
              <a:rPr lang="en-US" altLang="zh-CN" sz="1600">
                <a:latin typeface="Montserrat"/>
              </a:rPr>
              <a:t>3.</a:t>
            </a:r>
            <a:r>
              <a:rPr lang="zh-CN" altLang="en-US" sz="1600">
                <a:latin typeface="Montserrat"/>
              </a:rPr>
              <a:t>构建为游戏提供跑通</a:t>
            </a:r>
            <a:r>
              <a:rPr lang="en-US" altLang="zh-CN" sz="1600">
                <a:latin typeface="Montserrat"/>
              </a:rPr>
              <a:t>demo</a:t>
            </a:r>
            <a:r>
              <a:rPr lang="zh-CN" altLang="en-US" sz="1600">
                <a:latin typeface="Montserrat"/>
              </a:rPr>
              <a:t>所需的真实样本题目库</a:t>
            </a:r>
            <a:endParaRPr sz="1600">
              <a:latin typeface="Montserrat"/>
            </a:endParaRPr>
          </a:p>
          <a:p>
            <a:r>
              <a:rPr sz="1600" b="1">
                <a:solidFill>
                  <a:srgbClr val="000000"/>
                </a:solidFill>
                <a:latin typeface="Montserrat"/>
              </a:rPr>
              <a:t>验收指标：</a:t>
            </a:r>
          </a:p>
          <a:p>
            <a:r>
              <a:rPr sz="1600">
                <a:latin typeface="Montserrat"/>
              </a:rPr>
              <a:t>1. 完成一套统一的数据标准，能够稳定描述病例图像、病种类别、术前术后阶段及相关标签信息。</a:t>
            </a:r>
          </a:p>
          <a:p>
            <a:r>
              <a:rPr sz="1600">
                <a:latin typeface="Montserrat"/>
              </a:rPr>
              <a:t>2. </a:t>
            </a:r>
            <a:r>
              <a:rPr lang="zh-CN" altLang="en-US" sz="1600">
                <a:latin typeface="Montserrat"/>
              </a:rPr>
              <a:t>构建出完整的真实样本题目库</a:t>
            </a:r>
            <a:endParaRPr lang="en-US" altLang="zh-CN" sz="1600">
              <a:latin typeface="Montserrat"/>
            </a:endParaRPr>
          </a:p>
          <a:p>
            <a:r>
              <a:rPr lang="en-US" altLang="zh-CN" sz="1600">
                <a:latin typeface="Montserrat"/>
              </a:rPr>
              <a:t>3.</a:t>
            </a:r>
            <a:r>
              <a:rPr lang="zh-CN" altLang="en-US" sz="1600">
                <a:latin typeface="Montserrat"/>
              </a:rPr>
              <a:t> 基于医院可以提供的数据形式及医生意见设计评分反馈机制</a:t>
            </a:r>
          </a:p>
          <a:p>
            <a:endParaRPr sz="160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620353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AF65F-541B-E288-F055-0469CC5B2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89D78095-D112-C90E-AD6C-6A76A66577FD}"/>
              </a:ext>
            </a:extLst>
          </p:cNvPr>
          <p:cNvSpPr/>
          <p:nvPr/>
        </p:nvSpPr>
        <p:spPr>
          <a:xfrm>
            <a:off x="571500" y="428625"/>
            <a:ext cx="8572500" cy="57507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E96B1E12-76D9-AA59-7D73-42A670201004}"/>
              </a:ext>
            </a:extLst>
          </p:cNvPr>
          <p:cNvSpPr/>
          <p:nvPr/>
        </p:nvSpPr>
        <p:spPr>
          <a:xfrm>
            <a:off x="571500" y="428625"/>
            <a:ext cx="71438" cy="575072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73F2390-D829-5B11-55AF-5E62B4E25739}"/>
              </a:ext>
            </a:extLst>
          </p:cNvPr>
          <p:cNvSpPr/>
          <p:nvPr/>
        </p:nvSpPr>
        <p:spPr>
          <a:xfrm>
            <a:off x="742950" y="428625"/>
            <a:ext cx="3269492" cy="8104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00"/>
              </a:lnSpc>
            </a:pPr>
            <a:r>
              <a:rPr sz="1600" b="1">
                <a:solidFill>
                  <a:srgbClr val="000000"/>
                </a:solidFill>
                <a:latin typeface="Montserrat"/>
              </a:rPr>
              <a:t>B组：</a:t>
            </a:r>
            <a:r>
              <a:rPr lang="en-US" altLang="zh-CN" sz="16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冯俊铭</a:t>
            </a:r>
            <a:r>
              <a:rPr sz="1600" b="1">
                <a:solidFill>
                  <a:srgbClr val="000000"/>
                </a:solidFill>
                <a:latin typeface="Montserrat"/>
              </a:rPr>
              <a:t>--</a:t>
            </a:r>
            <a:r>
              <a:rPr lang="zh-CN" altLang="en-US" sz="1600" b="1">
                <a:solidFill>
                  <a:srgbClr val="000000"/>
                </a:solidFill>
                <a:latin typeface="Montserrat"/>
              </a:rPr>
              <a:t>评分反馈与建议</a:t>
            </a:r>
          </a:p>
          <a:p>
            <a:pPr>
              <a:lnSpc>
                <a:spcPts val="2200"/>
              </a:lnSpc>
            </a:pPr>
            <a:endParaRPr lang="zh-CN" altLang="en-US" sz="1600" b="1">
              <a:solidFill>
                <a:srgbClr val="00000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endParaRPr lang="zh-CN" altLang="en-US" sz="1600" b="1" dirty="0">
              <a:solidFill>
                <a:srgbClr val="00000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534C636-EB45-0591-AA87-6C2E1F9E3A3A}"/>
              </a:ext>
            </a:extLst>
          </p:cNvPr>
          <p:cNvSpPr/>
          <p:nvPr/>
        </p:nvSpPr>
        <p:spPr>
          <a:xfrm>
            <a:off x="742949" y="816173"/>
            <a:ext cx="5309833" cy="2991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sz="940">
                <a:solidFill>
                  <a:srgbClr val="666666"/>
                </a:solidFill>
                <a:latin typeface="Montserrat"/>
              </a:rPr>
              <a:t>医院数据对接、JSON标准化、</a:t>
            </a:r>
            <a:r>
              <a:rPr lang="en-US" altLang="zh-CN" sz="94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设计基于操作日志的评分反馈机制</a:t>
            </a:r>
            <a:r>
              <a:rPr lang="zh-CN" altLang="en-US" sz="94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、</a:t>
            </a:r>
            <a:r>
              <a:rPr lang="en-US" altLang="zh-CN" sz="8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收集并提供前端所需视觉素材</a:t>
            </a:r>
            <a:endParaRPr lang="en-US" altLang="zh-CN" sz="800"/>
          </a:p>
          <a:p>
            <a:pPr>
              <a:lnSpc>
                <a:spcPts val="1200"/>
              </a:lnSpc>
            </a:pPr>
            <a:endParaRPr lang="en-US" altLang="zh-CN" sz="940" dirty="0">
              <a:solidFill>
                <a:srgbClr val="66666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96B456E-2646-8C3E-0740-AF1FEFB3D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666" y="1178505"/>
            <a:ext cx="4881109" cy="378952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470CF17-AA87-0F6E-3201-9357117DC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15" y="1115292"/>
            <a:ext cx="3876495" cy="391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365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1210</Words>
  <Application>Microsoft Office PowerPoint</Application>
  <PresentationFormat>全屏显示(16:9)</PresentationFormat>
  <Paragraphs>157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Arial</vt:lpstr>
      <vt:lpstr>Arial Bold</vt:lpstr>
      <vt:lpstr>Montserrat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淩钧 Lekge</cp:lastModifiedBy>
  <cp:revision>7</cp:revision>
  <dcterms:created xsi:type="dcterms:W3CDTF">2026-03-22T12:30:00Z</dcterms:created>
  <dcterms:modified xsi:type="dcterms:W3CDTF">2026-03-22T13:57:20Z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93307A19D7EF48FBA2FA11D21DE0BBBF_13</vt:lpwstr>
  </property>
  <property fmtid="{D5CDD505-2E9C-101B-9397-08002B2CF9AE}" pid="3" name="KSOProductBuildVer">
    <vt:lpwstr>2052-12.1.0.25225</vt:lpwstr>
  </property>
</Properties>
</file>